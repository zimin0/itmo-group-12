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37160" cy="1371600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457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Сводные документы требований</a:t>
            </a:r>
            <a:br/>
            <a:r>
              <a:t>к системе управления доставкой</a:t>
            </a:r>
            <a:br/>
            <a:r>
              <a:t>новогодних подарков (Santa CRM)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Arial"/>
              </a:defRPr>
            </a:pPr>
            <a:r>
              <a:t>Зименков Н. (К3423), Калачева В. (К3423), Козлов Н. (К3422)</a:t>
            </a:r>
            <a:br/>
            <a:r>
              <a:t>Луценко В. (К3420), Петрова В. (К3423), Федоров В. (К3423)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Arial"/>
              </a:defRPr>
            </a:pPr>
            <a:r>
              <a:t>Создание клиент-серверных приложений •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32720" cy="36576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Исходные данные и бизнес-цели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37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Проект: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t>Веб-приложение для автоматизации доставки новогодних подарков детям.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Проблема: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Нет единой системы координации: письма, склад, доставка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Ручной процесс — ошибки и потери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Бизнес-цели: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Полный цикл: письмо → модерация → склад → доставка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6 ролей пользователей с разграничением доступа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Прозрачная отчётность с экспортом в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029200"/>
            <a:ext cx="2011680" cy="1188720"/>
          </a:xfrm>
          <a:prstGeom prst="roundRect">
            <a:avLst/>
          </a:prstGeom>
          <a:solidFill>
            <a:srgbClr val="F0E6FA"/>
          </a:solidFill>
          <a:ln w="1905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120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28B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Arial"/>
              </a:defRPr>
            </a:pPr>
            <a:r>
              <a:t>ролей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5029200"/>
            <a:ext cx="2011680" cy="1188720"/>
          </a:xfrm>
          <a:prstGeom prst="roundRect">
            <a:avLst/>
          </a:prstGeom>
          <a:solidFill>
            <a:srgbClr val="F0E6FA"/>
          </a:solidFill>
          <a:ln w="1905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5120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28B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Arial"/>
              </a:defRPr>
            </a:pPr>
            <a:r>
              <a:t>моделей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029200"/>
            <a:ext cx="2011680" cy="1188720"/>
          </a:xfrm>
          <a:prstGeom prst="roundRect">
            <a:avLst/>
          </a:prstGeom>
          <a:solidFill>
            <a:srgbClr val="F0E6FA"/>
          </a:solidFill>
          <a:ln w="1905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120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28B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Arial"/>
              </a:defRPr>
            </a:pPr>
            <a:r>
              <a:t>маршрутов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5029200"/>
            <a:ext cx="2011680" cy="1188720"/>
          </a:xfrm>
          <a:prstGeom prst="roundRect">
            <a:avLst/>
          </a:prstGeom>
          <a:solidFill>
            <a:srgbClr val="F0E6FA"/>
          </a:solidFill>
          <a:ln w="1905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39" y="5120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28B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39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Arial"/>
              </a:defRPr>
            </a:pPr>
            <a:r>
              <a:t>сервиса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Видение решения и риски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37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Решение: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r>
              <a:t>Клиент-серверное приложение на Django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Стек технологий: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Python 3.10 + Django 5.2.12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SQLite 3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HTML/CSS + Django Templates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xhtml2pdf (PDF-отчёты)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Основные риски: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029200" cy="100584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0A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t>Нехватка времени на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t>Вероятность: Средняя. Митигация: Приоритизация, итерации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54680"/>
            <a:ext cx="5029200" cy="100584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0A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t>Ошибки в ролевой модели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t>Вероятность: Низкая. Митигация: Тестирование доступа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297680"/>
            <a:ext cx="5029200" cy="100584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0A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t>Конфликты при слиянии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t>Вероятность: Средняя. Митигация: Код-ревью, ветка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Рамки и ограничения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37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MVP включает: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Аутентификация и 6 ролей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Письма с модерацией (5 статусов)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Каталог подарков и категорий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Управление складом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Логистика (4 статуса доставки)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Отчётность + PDF-экспорт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Исключения из MVP: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Платёжная система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Чат между пользователями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Мобильное приложение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Геолокация курьеров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/>
              </a:defRPr>
              <a:buChar char="•"/>
            </a:pPr>
            <a:r>
              <a:t>Интернационализация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Приоритеты: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32918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8B0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532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Аутентификация, письма, склад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5486400"/>
            <a:ext cx="32918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5532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Логистика, отчёты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5486400"/>
            <a:ext cx="32918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5A5A6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5532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t>Каталог, админ-панель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Бизнес-контекст: контекстная диаграмма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37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ex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SRS: Операционная среда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37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554480"/>
            <a:ext cx="3200400" cy="502920"/>
          </a:xfrm>
          <a:prstGeom prst="rect">
            <a:avLst/>
          </a:prstGeom>
          <a:solidFill>
            <a:srgbClr val="6B28B0"/>
          </a:solidFill>
          <a:ln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Компонент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554480"/>
            <a:ext cx="5029200" cy="502920"/>
          </a:xfrm>
          <a:prstGeom prst="rect">
            <a:avLst/>
          </a:prstGeom>
          <a:solidFill>
            <a:srgbClr val="6B28B0"/>
          </a:solidFill>
          <a:ln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Технология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057400"/>
            <a:ext cx="32004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103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t>Язык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057400"/>
            <a:ext cx="50292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103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Python 3.10+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56032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2606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t>Фреймворк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560320"/>
            <a:ext cx="5029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6060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Django 5.2.12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063240"/>
            <a:ext cx="32004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3108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t>СУБД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063240"/>
            <a:ext cx="50292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3108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SQLite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356616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t>Клиент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3566160"/>
            <a:ext cx="5029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3611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Веб-браузер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4069080"/>
            <a:ext cx="32004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t>Шаблоны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069080"/>
            <a:ext cx="50292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4114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Django Templates + CSS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457200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4617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t>PDF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4572000"/>
            <a:ext cx="5029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46177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xhtml2pdf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28B0"/>
                </a:solidFill>
                <a:latin typeface="Arial"/>
              </a:defRPr>
            </a:pPr>
            <a:r>
              <a:t>Архитектура: MVT (Model—View—Template) + сервисный слой (services.py)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SRS: Пользовательские сценарии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37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286000" cy="640080"/>
          </a:xfrm>
          <a:prstGeom prst="round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Ребёнок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r>
              <a:t>Регистрация → Написание письма → Просмотр статуса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2286000" cy="640080"/>
          </a:xfrm>
          <a:prstGeom prst="round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Помощник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r>
              <a:t>Вход → Список писем → Модерация (одобрить/отклонить)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2286000" cy="640080"/>
          </a:xfrm>
          <a:prstGeom prst="round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Склад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r>
              <a:t>Вход → Просмотр запасов → Обновление количества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2286000" cy="640080"/>
          </a:xfrm>
          <a:prstGeom prst="round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233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Курьер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0233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r>
              <a:t>Вход → Мои доставки → Обновление статуса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2286000" cy="640080"/>
          </a:xfrm>
          <a:prstGeom prst="round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Благотв. орг.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r>
              <a:t>Вход → Дашборд отчётов → Экспорт 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77840"/>
            <a:ext cx="2286000" cy="640080"/>
          </a:xfrm>
          <a:prstGeom prst="round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Админ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r>
              <a:t>Полный доступ + Django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SRS: Функции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37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13 функциональных требований: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  <a:buChar char="•"/>
            </a:pPr>
            <a:r>
              <a:t>FR-1..3: Регистрация, авторизация, роли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  <a:buChar char="•"/>
            </a:pPr>
            <a:r>
              <a:t>FR-4..6: Письма, модерация, фильтр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  <a:buChar char="•"/>
            </a:pPr>
            <a:r>
              <a:t>FR-7..8: Каталог подарков/категорий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  <a:buChar char="•"/>
            </a:pPr>
            <a:r>
              <a:t>FR-9: Управление складом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  <a:buChar char="•"/>
            </a:pPr>
            <a:r>
              <a:t>FR-10: Управление доставками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  <a:buChar char="•"/>
            </a:pPr>
            <a:r>
              <a:t>FR-11: Дашборд отчётности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  <a:buChar char="•"/>
            </a:pPr>
            <a:r>
              <a:t>FR-12: Экспорт PDF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  <a:buChar char="•"/>
            </a:pPr>
            <a:r>
              <a:t>FR-13: Админ-панель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4114800" cy="777240"/>
          </a:xfrm>
          <a:prstGeom prst="roundRect">
            <a:avLst/>
          </a:prstGeom>
          <a:solidFill>
            <a:srgbClr val="F0E6FA"/>
          </a:solidFill>
          <a:ln w="1905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5544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8B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t>URL-маршрутов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377440"/>
            <a:ext cx="4114800" cy="777240"/>
          </a:xfrm>
          <a:prstGeom prst="roundRect">
            <a:avLst/>
          </a:prstGeom>
          <a:solidFill>
            <a:srgbClr val="F0E6FA"/>
          </a:solidFill>
          <a:ln w="1905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4688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8B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t>Django-моделей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291840"/>
            <a:ext cx="4114800" cy="777240"/>
          </a:xfrm>
          <a:prstGeom prst="roundRect">
            <a:avLst/>
          </a:prstGeom>
          <a:solidFill>
            <a:srgbClr val="F0E6FA"/>
          </a:solidFill>
          <a:ln w="1905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3832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8B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t>форм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206240"/>
            <a:ext cx="4114800" cy="777240"/>
          </a:xfrm>
          <a:prstGeom prst="roundRect">
            <a:avLst/>
          </a:prstGeom>
          <a:solidFill>
            <a:srgbClr val="F0E6FA"/>
          </a:solidFill>
          <a:ln w="1905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29767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8B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t>сервиса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5120640"/>
            <a:ext cx="4114800" cy="777240"/>
          </a:xfrm>
          <a:prstGeom prst="roundRect">
            <a:avLst/>
          </a:prstGeom>
          <a:solidFill>
            <a:srgbClr val="F0E6FA"/>
          </a:solidFill>
          <a:ln w="1905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521207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8B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t>экранов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SRS: Модель данных (7 сущностей)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37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d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Целостность: FK с CASCADE/SET_NULL, уникальные поля, PositiveIntegerField, серверная валидация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SRS: Архитектура клиент-серверного взаимодействия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37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11 экранов: главная, регистрация, вход, письма, склад, доставки, отчёты, каталог, категории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SRS: Атрибуты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37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ИТМО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28B0"/>
                </a:solidFill>
                <a:latin typeface="Arial"/>
              </a:defRPr>
            </a:pPr>
            <a:r>
              <a:t>Внешние: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Usability: Адаптивный интерфейс по ролям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Security: Хэширование паролей, CSRF, ролевой доступ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Reliability: Серверная валидация, FK-целостность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Performance: select_related, лёгкий стек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28B0"/>
                </a:solidFill>
                <a:latin typeface="Arial"/>
              </a:defRPr>
            </a:pPr>
            <a:r>
              <a:t>Внутренние: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Maintainability: models/views/services/forms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Portability: Python + Django, кроссплатформенно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Testability: Сервисный слой, TEST_CHECKLIST.md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Extensibility: Модульная архитектура Django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Итоги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2926080" cy="1280160"/>
          </a:xfrm>
          <a:prstGeom prst="roundRect">
            <a:avLst/>
          </a:prstGeom>
          <a:solidFill>
            <a:srgbClr val="2A1545"/>
          </a:solidFill>
          <a:ln w="2540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920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B59B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ролей пользователей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828800"/>
            <a:ext cx="2926080" cy="1280160"/>
          </a:xfrm>
          <a:prstGeom prst="roundRect">
            <a:avLst/>
          </a:prstGeom>
          <a:solidFill>
            <a:srgbClr val="2A1545"/>
          </a:solidFill>
          <a:ln w="2540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B59B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моделей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2926080" cy="1280160"/>
          </a:xfrm>
          <a:prstGeom prst="roundRect">
            <a:avLst/>
          </a:prstGeom>
          <a:solidFill>
            <a:srgbClr val="2A1545"/>
          </a:solidFill>
          <a:ln w="2540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920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B59B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URL-маршрутов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474720"/>
            <a:ext cx="2926080" cy="1280160"/>
          </a:xfrm>
          <a:prstGeom prst="roundRect">
            <a:avLst/>
          </a:prstGeom>
          <a:solidFill>
            <a:srgbClr val="2A1545"/>
          </a:solidFill>
          <a:ln w="2540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B59B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форм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474720"/>
            <a:ext cx="2926080" cy="1280160"/>
          </a:xfrm>
          <a:prstGeom prst="roundRect">
            <a:avLst/>
          </a:prstGeom>
          <a:solidFill>
            <a:srgbClr val="2A1545"/>
          </a:solidFill>
          <a:ln w="2540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B59B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сервиса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474720"/>
            <a:ext cx="2926080" cy="1280160"/>
          </a:xfrm>
          <a:prstGeom prst="roundRect">
            <a:avLst/>
          </a:prstGeom>
          <a:solidFill>
            <a:srgbClr val="2A1545"/>
          </a:solidFill>
          <a:ln w="25400">
            <a:solidFill>
              <a:srgbClr val="6B2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B59B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экранов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Arial"/>
              </a:defRPr>
            </a:pPr>
            <a:r>
              <a:t>Репозиторий: https://github.com/Zimin0/ITMO-group-12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Arial"/>
              </a:defRPr>
            </a:pPr>
            <a:r>
              <a:t>Видео: https://drive.google.com/drive/folders/1TdcRUdQAou28KZtcZnhB0-76Mlh_jUlx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Спасибо за внимание!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6583680"/>
            <a:ext cx="10332720" cy="36576"/>
          </a:xfrm>
          <a:prstGeom prst="rect">
            <a:avLst/>
          </a:prstGeom>
          <a:solidFill>
            <a:srgbClr val="6B2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